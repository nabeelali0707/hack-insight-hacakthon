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15"/>
    <p:sldId id="265" r:id="rId16"/>
    <p:sldId id="261" r:id="rId7"/>
    <p:sldId id="266" r:id="rId1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ck Insight 2026" id="{d27e10ab-bb75-0403-50be-a673a199689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8.xml"/><Relationship Id="rId8" Type="http://schemas.openxmlformats.org/officeDocument/2006/relationships/slide" Target="slides/slide10.xml"/><Relationship Id="rId9" Type="http://schemas.openxmlformats.org/officeDocument/2006/relationships/slide" Target="slides/slide1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Baseline: same month last year</c:v>
                </c:pt>
              </c:strCache>
            </c:strRef>
          </c:tx>
          <c:spPr>
            <a:solidFill>
              <a:schemeClr val="accent4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800">
                    <a:solidFill>
                      <a:schemeClr val="accent6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K-Electric</c:v>
                </c:pt>
                <c:pt idx="1">
                  <c:v>GEPCO</c:v>
                </c:pt>
                <c:pt idx="2">
                  <c:v>QESCO</c:v>
                </c:pt>
                <c:pt idx="3">
                  <c:v>HESCO</c:v>
                </c:pt>
                <c:pt idx="4">
                  <c:v>LESCO</c:v>
                </c:pt>
                <c:pt idx="5">
                  <c:v>MEPCO</c:v>
                </c:pt>
                <c:pt idx="6">
                  <c:v>SEPCO</c:v>
                </c:pt>
                <c:pt idx="7">
                  <c:v>FESCO</c:v>
                </c:pt>
                <c:pt idx="8">
                  <c:v>IESCO</c:v>
                </c:pt>
                <c:pt idx="9">
                  <c:v>PESCO</c:v>
                </c:pt>
              </c:strCache>
            </c:strRef>
          </c:cat>
          <c:val>
            <c:numRef>
              <c:f>Sheet1!$B$2:$B$11</c:f>
              <c:numCache>
                <c:formatCode>0.0</c:formatCode>
                <c:ptCount val="10"/>
                <c:pt idx="0">
                  <c:v>17.31</c:v>
                </c:pt>
                <c:pt idx="1">
                  <c:v>15.8</c:v>
                </c:pt>
                <c:pt idx="2">
                  <c:v>13.3</c:v>
                </c:pt>
                <c:pt idx="3">
                  <c:v>20.59</c:v>
                </c:pt>
                <c:pt idx="4">
                  <c:v>15.98</c:v>
                </c:pt>
                <c:pt idx="5">
                  <c:v>19.01</c:v>
                </c:pt>
                <c:pt idx="6">
                  <c:v>21.8</c:v>
                </c:pt>
                <c:pt idx="7">
                  <c:v>15.51</c:v>
                </c:pt>
                <c:pt idx="8">
                  <c:v>14.94</c:v>
                </c:pt>
                <c:pt idx="9">
                  <c:v>25.44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BijliCast</c:v>
                </c:pt>
              </c:strCache>
            </c:strRef>
          </c:tx>
          <c:spPr>
            <a:solidFill>
              <a:schemeClr val="tx2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800" b="1">
                    <a:solidFill>
                      <a:schemeClr val="tx2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K-Electric</c:v>
                </c:pt>
                <c:pt idx="1">
                  <c:v>GEPCO</c:v>
                </c:pt>
                <c:pt idx="2">
                  <c:v>QESCO</c:v>
                </c:pt>
                <c:pt idx="3">
                  <c:v>HESCO</c:v>
                </c:pt>
                <c:pt idx="4">
                  <c:v>LESCO</c:v>
                </c:pt>
                <c:pt idx="5">
                  <c:v>MEPCO</c:v>
                </c:pt>
                <c:pt idx="6">
                  <c:v>SEPCO</c:v>
                </c:pt>
                <c:pt idx="7">
                  <c:v>FESCO</c:v>
                </c:pt>
                <c:pt idx="8">
                  <c:v>IESCO</c:v>
                </c:pt>
                <c:pt idx="9">
                  <c:v>PESCO</c:v>
                </c:pt>
              </c:strCache>
            </c:strRef>
          </c:cat>
          <c:val>
            <c:numRef>
              <c:f>Sheet1!$C$2:$C$11</c:f>
              <c:numCache>
                <c:formatCode>0.0</c:formatCode>
                <c:ptCount val="10"/>
                <c:pt idx="0">
                  <c:v>10.11</c:v>
                </c:pt>
                <c:pt idx="1">
                  <c:v>10.6</c:v>
                </c:pt>
                <c:pt idx="2">
                  <c:v>10.66</c:v>
                </c:pt>
                <c:pt idx="3">
                  <c:v>13.01</c:v>
                </c:pt>
                <c:pt idx="4">
                  <c:v>13.47</c:v>
                </c:pt>
                <c:pt idx="5">
                  <c:v>14.03</c:v>
                </c:pt>
                <c:pt idx="6">
                  <c:v>14.12</c:v>
                </c:pt>
                <c:pt idx="7">
                  <c:v>15.35</c:v>
                </c:pt>
                <c:pt idx="8">
                  <c:v>15.73</c:v>
                </c:pt>
                <c:pt idx="9">
                  <c:v>17.82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E3DA"/>
            </a:solidFill>
          </a:ln>
        </c:spPr>
        <c:txPr>
          <a:bodyPr/>
          <a:lstStyle/>
          <a:p>
            <a:pPr>
              <a:defRPr sz="900">
                <a:solidFill>
                  <a:schemeClr val="tx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8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BijliCast forecasts the hourly electricity demand of K-Electric (Karachi) and Pakistan's nine other distribution companies a month ahead, using only official Pakistani data, and explains every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Primary user: K-Electric's demand-planning and power-procurement desk. Decision: how much to draw from the national grid for each hour of next month, and when to run demand-response messaging. Today's default is last year's same month, which is our declared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demand data is ISMO's public monthly publications: the average demand for each hour of the day, per company. Weather is ERA5 for each DISCO's headquarters city. The manifest records source, fetch time, SHA-256 and licence for every file; raw files are never edited.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Raw files land unedited with a SHA-256 manifest. The Data Quality Agent writes cleaned tables and a decision log; gold tables carry stable row IDs. The model and the assistant read only gold. A Supervisor agent runs the whole chain every hour through Prefect.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is reproducible: `make data` rebuilds the warehouse from an empty folder, `make model` trains and evaluates once against the baseline, and `make flow` runs the Prefect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Workspace: pick a company and month; the chart shows the hourly forecast, its 80% range, last year and the evening tariff window, with the outlook card and Peak Cost Lens below. Data quality: every decision with its reason; here the copied ISMO months. Scenarios: re-forecast with temperatures shifted -2 to +5 °C, with a warning outside the training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Limits we report: IESCO and FESCO show no gain; summer peaks are under-forecast (bias about -11%); the 80% ranges cover 75.9%. Outputs are planning information, not an official ISMO or NEPRA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 team member should be ready to explain the code, the data quality decisions, the baseline, the business model and the optimisation log at the viva.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in answers are inserted by code from SQL on gold tables, so the language layer cannot invent them. Recommendations cite a trusted document page. The golden test set of 12 questions passes 12/12, including 'I don't know' and premise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set: Jan-Sep 2026, 1,680 rows (10 companies x 24 hours x 7 months), used once. Overall error falls from 17.97% to 13.49%, 25% lower. K-Electric: 10.11% vs 17.31%, mean error 204 MW vs 338 MW. The 80% ranges cover 75.9%: slightly narrow, worst in summer. We compare with the declared baseline, not with K-Electric's internal forecasts, which are not public.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Exposure = forecast mismatch (MWh) priced at ISMO's hourly marginal price, from gold rows EC-KE-202601 to EC-KE-202609. It is money at risk from planning to the wrong number, not a saving K-Electric banks automatically; contracts and dispatch rules decide how much can be captured. Freemium: public dashboard and Urdu briefs are free; planner-grade forecasts, alerts and the API are paid.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Hack_Insight_2026_Tech_Banner__1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37124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HACK INSIGHT 2026  |  NED University of Engineering &amp; Technology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HACK INSIGHT 2026  |  NED University of Engineering &amp; Technology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2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Hack_Insight_2026_Tech_Banner__1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371246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84048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3840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BijliCast: Hourly Demand Intelligence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[Team Name]  |  Data-to-Decision · Energy demand  |  K-Electric &amp; 9 DISCOs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188720"/>
            <a:ext cx="493776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4389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Each month, K-Electric must decide how much grid power to plan for every hour ahead. The usual method copies last year's numbers, but Karachi's grid draw jumped in 2025-26, fuel prices spiked, and even official ISMO files contain errors. A wrong peak means load-shedding or crores wasted.</a:t>
            </a:r>
            <a:endParaRPr lang="en-US" sz="1800" dirty="0"/>
          </a:p>
        </p:txBody>
      </p:sp>
      <p:sp>
        <p:nvSpPr>
          <p:cNvPr id="6" name="Side card 1"/>
          <p:cNvSpPr/>
          <p:nvPr/>
        </p:nvSpPr>
        <p:spPr>
          <a:xfrm>
            <a:off x="5669280" y="1188720"/>
            <a:ext cx="30175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7" name="Number 1"/>
          <p:cNvSpPr txBox="1"/>
          <p:nvPr/>
        </p:nvSpPr>
        <p:spPr>
          <a:xfrm>
            <a:off x="5852160" y="1508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Who is affected?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719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KE planners, 9 DISCOs, Karachi homes &amp; industry</a:t>
            </a:r>
            <a:endParaRPr lang="en-US" sz="1200" dirty="0"/>
          </a:p>
        </p:txBody>
      </p:sp>
      <p:sp>
        <p:nvSpPr>
          <p:cNvPr id="10" name="Side card 2"/>
          <p:cNvSpPr/>
          <p:nvPr/>
        </p:nvSpPr>
        <p:spPr>
          <a:xfrm>
            <a:off x="5669280" y="2331720"/>
            <a:ext cx="30175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1" name="Number 2"/>
          <p:cNvSpPr txBox="1"/>
          <p:nvPr/>
        </p:nvSpPr>
        <p:spPr>
          <a:xfrm>
            <a:off x="5852160" y="2651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Why does it matter?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862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Evening peak = 22-31% of KE's daily grid cost</a:t>
            </a:r>
            <a:endParaRPr lang="en-US" sz="1200" dirty="0"/>
          </a:p>
        </p:txBody>
      </p:sp>
      <p:sp>
        <p:nvSpPr>
          <p:cNvPr id="14" name="Side card 3"/>
          <p:cNvSpPr/>
          <p:nvPr/>
        </p:nvSpPr>
        <p:spPr>
          <a:xfrm>
            <a:off x="5669280" y="3474720"/>
            <a:ext cx="30175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5" name="Number 3"/>
          <p:cNvSpPr txBox="1"/>
          <p:nvPr/>
        </p:nvSpPr>
        <p:spPr>
          <a:xfrm>
            <a:off x="5852160" y="3794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Our goal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4005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Beat "copy last year" by 10%+, with 80% ranges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Dataset Declaration</a:t>
            </a:r>
            <a:endParaRPr lang="en-US" sz="3200" dirty="0"/>
          </a:p>
        </p:txBody>
      </p:sp>
      <p:graphicFrame>
        <p:nvGraphicFramePr>
          <p:cNvPr id="4" name="Datase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Dataset name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ISMO hourly demand: K-Electric + 9 DISCOs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ISMO marginal prices · ERA5 weather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Source / link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ismo.gov.pk downloads · Open-Meteo ERA5 API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NEPRA, IGCEP and K-Electric documents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Size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459,275 cleaned rows from 163 raw files (49 MB),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each SHA-256 fingerprinted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Time period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</a:rPr>
                        <a:t>Demand: Sep 2023 – Sep 2026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</a:rPr>
                        <a:t>Prices: Jul 2024 – Sep 2026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</a:rPr>
                        <a:t>Weather: Jan 2022 – Oct 2026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Format &amp; license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XLSX: public ISMO data, with attribution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JSON: Open-Meteo, CC BY 4.0 (ERA5)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Key features / target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Target: mean MW for each hour of the month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21 features: demand lags, weather, Ramadan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tat card 1"/>
          <p:cNvSpPr/>
          <p:nvPr/>
        </p:nvSpPr>
        <p:spPr>
          <a:xfrm>
            <a:off x="6217920" y="1188720"/>
            <a:ext cx="246888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217920" y="12984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459K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Rows / records</a:t>
            </a:r>
            <a:endParaRPr lang="en-US" sz="1200" dirty="0"/>
          </a:p>
        </p:txBody>
      </p:sp>
      <p:sp>
        <p:nvSpPr>
          <p:cNvPr id="7" name="Stat card 2"/>
          <p:cNvSpPr/>
          <p:nvPr/>
        </p:nvSpPr>
        <p:spPr>
          <a:xfrm>
            <a:off x="6217920" y="2331720"/>
            <a:ext cx="246888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217920" y="24414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21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2971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Model features</a:t>
            </a:r>
            <a:endParaRPr lang="en-US" sz="1200" dirty="0"/>
          </a:p>
        </p:txBody>
      </p:sp>
      <p:sp>
        <p:nvSpPr>
          <p:cNvPr id="10" name="Stat card 3"/>
          <p:cNvSpPr/>
          <p:nvPr/>
        </p:nvSpPr>
        <p:spPr>
          <a:xfrm>
            <a:off x="6217920" y="3474720"/>
            <a:ext cx="246888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17920" y="35844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49 MB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Raw data (163 files)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Pipeline Used</a:t>
            </a:r>
            <a:endParaRPr lang="en-US" sz="3200" dirty="0"/>
          </a:p>
        </p:txBody>
      </p:sp>
      <p:sp>
        <p:nvSpPr>
          <p:cNvPr id="3" name="Stage card 1"/>
          <p:cNvSpPr/>
          <p:nvPr/>
        </p:nvSpPr>
        <p:spPr>
          <a:xfrm>
            <a:off x="457200" y="1280160"/>
            <a:ext cx="1417320" cy="237744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4" name="Stage number 1"/>
          <p:cNvSpPr txBox="1"/>
          <p:nvPr/>
        </p:nvSpPr>
        <p:spPr>
          <a:xfrm>
            <a:off x="98298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Data Collection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ISMO workbooks, prices, ERA5 API; SHA-256 manifest</a:t>
            </a:r>
            <a:endParaRPr lang="en-US" sz="1200" dirty="0"/>
          </a:p>
        </p:txBody>
      </p:sp>
      <p:sp>
        <p:nvSpPr>
          <p:cNvPr id="7" name="Arrow 1"/>
          <p:cNvSpPr/>
          <p:nvPr/>
        </p:nvSpPr>
        <p:spPr>
          <a:xfrm>
            <a:off x="1920240" y="2377440"/>
            <a:ext cx="182880" cy="2286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8" name="Stage card 2"/>
          <p:cNvSpPr/>
          <p:nvPr/>
        </p:nvSpPr>
        <p:spPr>
          <a:xfrm>
            <a:off x="2148840" y="1280160"/>
            <a:ext cx="1417320" cy="237744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9" name="Stage number 2"/>
          <p:cNvSpPr txBox="1"/>
          <p:nvPr/>
        </p:nvSpPr>
        <p:spPr>
          <a:xfrm>
            <a:off x="267462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1965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Data Cleaning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278892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Data Quality Agent: fix, fill or flag, with a reason</a:t>
            </a:r>
            <a:endParaRPr lang="en-US" sz="1200" dirty="0"/>
          </a:p>
        </p:txBody>
      </p:sp>
      <p:sp>
        <p:nvSpPr>
          <p:cNvPr id="12" name="Arrow 2"/>
          <p:cNvSpPr/>
          <p:nvPr/>
        </p:nvSpPr>
        <p:spPr>
          <a:xfrm>
            <a:off x="3611880" y="2377440"/>
            <a:ext cx="182880" cy="2286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3" name="Stage card 3"/>
          <p:cNvSpPr/>
          <p:nvPr/>
        </p:nvSpPr>
        <p:spPr>
          <a:xfrm>
            <a:off x="3840480" y="1280160"/>
            <a:ext cx="1417320" cy="237744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4" name="Stage number 3"/>
          <p:cNvSpPr txBox="1"/>
          <p:nvPr/>
        </p:nvSpPr>
        <p:spPr>
          <a:xfrm>
            <a:off x="436626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1965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Analysis / EDA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278892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Load shapes, drift checks, Peak Cost Lens</a:t>
            </a:r>
            <a:endParaRPr lang="en-US" sz="1200" dirty="0"/>
          </a:p>
        </p:txBody>
      </p:sp>
      <p:sp>
        <p:nvSpPr>
          <p:cNvPr id="17" name="Arrow 3"/>
          <p:cNvSpPr/>
          <p:nvPr/>
        </p:nvSpPr>
        <p:spPr>
          <a:xfrm>
            <a:off x="5303520" y="2377440"/>
            <a:ext cx="182880" cy="2286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8" name="Stage card 4"/>
          <p:cNvSpPr/>
          <p:nvPr/>
        </p:nvSpPr>
        <p:spPr>
          <a:xfrm>
            <a:off x="5532120" y="1280160"/>
            <a:ext cx="1417320" cy="237744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9" name="Stage number 4"/>
          <p:cNvSpPr txBox="1"/>
          <p:nvPr/>
        </p:nvSpPr>
        <p:spPr>
          <a:xfrm>
            <a:off x="605790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623560" y="1965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Modeling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278892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Gradient boosting with 80% ranges, vs baseline</a:t>
            </a:r>
            <a:endParaRPr lang="en-US" sz="1200" dirty="0"/>
          </a:p>
        </p:txBody>
      </p:sp>
      <p:sp>
        <p:nvSpPr>
          <p:cNvPr id="22" name="Arrow 4"/>
          <p:cNvSpPr/>
          <p:nvPr/>
        </p:nvSpPr>
        <p:spPr>
          <a:xfrm>
            <a:off x="6995160" y="2377440"/>
            <a:ext cx="182880" cy="2286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3" name="Stage card 5"/>
          <p:cNvSpPr/>
          <p:nvPr/>
        </p:nvSpPr>
        <p:spPr>
          <a:xfrm>
            <a:off x="7223760" y="1280160"/>
            <a:ext cx="1417320" cy="237744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24" name="Stage number 5"/>
          <p:cNvSpPr txBox="1"/>
          <p:nvPr/>
        </p:nvSpPr>
        <p:spPr>
          <a:xfrm>
            <a:off x="774954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1965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Dashboard / App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78892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FastAPI dashboard, EN/UR assistant, hourly Prefect</a:t>
            </a:r>
            <a:endParaRPr lang="en-US" sz="1200" dirty="0"/>
          </a:p>
        </p:txBody>
      </p:sp>
      <p:sp>
        <p:nvSpPr>
          <p:cNvPr id="27" name="Summary bar"/>
          <p:cNvSpPr/>
          <p:nvPr/>
        </p:nvSpPr>
        <p:spPr>
          <a:xfrm>
            <a:off x="457200" y="38862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1520" y="38862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Official ISMO data in  →  checked hourly forecasts, costs and cited advice out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Pipeline Details &amp; Tools</a:t>
            </a:r>
            <a:endParaRPr lang="en-US" sz="3200" dirty="0"/>
          </a:p>
        </p:txBody>
      </p:sp>
      <p:graphicFrame>
        <p:nvGraphicFramePr>
          <p:cNvPr id="6" name="Tool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Stage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Tools / Libraries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What we did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Collection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Python, requests, SHA-256 manifest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Public ISMO links only; every raw file fingerprinted, never edited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Preprocessing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pandas, pandera, DuckDB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Data Quality Agent: FIX / FILL / FLAG with a reason; RED quality keeps last good data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Analysis / EDA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DuckDB SQL, matplotlib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Hourly load shapes by season; drift monitor; Peak Cost Lens at ISMO prices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Modeling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scikit-learn HistGradientBoosting, conformal ranges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Rolling-origin tuning; scored once on 7 unseen months vs the declared baseline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Dashboard / App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FastAPI, JavaScript, Prefect, FAISS + BM25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Hourly pipeline; dashboard and EN/UR assistant with row IDs and citations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BijliCast Works</a:t>
            </a:r>
            <a:endParaRPr lang="en-US" sz="32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188720"/>
            <a:ext cx="493776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ASK BIJLICAST  ·  A REAL ANSWER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4389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 b="1">
                <a:solidFill>
                  <a:schemeClr val="tx2"/>
                </a:solidFill>
              </a:rPr>
              <a:t>Q: Compare next month with last year</a:t>
            </a:r>
            <a:endParaRPr lang="en-US" sz="16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K-Electric's November 2026 demand averages 2,062 MW, +17.5% on November 2025. Its peak (01:00) falls outside the 6-10 PM tariff peak, so plan night-time grid purchases.</a:t>
            </a:r>
            <a:endParaRPr lang="en-US" sz="15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1200" dirty="0">
                <a:solidFill>
                  <a:schemeClr val="accent6"/>
                </a:solidFill>
              </a:rPr>
              <a:t>48 row IDs (FC-KE-202611-01 …)  ·  Source: K-Electric Tariff Structure [DOC-KETOU]</a:t>
            </a:r>
            <a:endParaRPr lang="en-US" sz="12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1300" dirty="0" b="1">
                <a:solidFill>
                  <a:schemeClr val="tx2"/>
                </a:solidFill>
              </a:rPr>
              <a:t>Numbers from row IDs · advice cited · English &amp; Urdu · says "I don't know"</a:t>
            </a:r>
            <a:endParaRPr lang="en-US" sz="1300" dirty="0"/>
          </a:p>
        </p:txBody>
      </p:sp>
      <p:sp>
        <p:nvSpPr>
          <p:cNvPr id="6" name="Side card 1"/>
          <p:cNvSpPr/>
          <p:nvPr/>
        </p:nvSpPr>
        <p:spPr>
          <a:xfrm>
            <a:off x="5669280" y="1188720"/>
            <a:ext cx="30175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7" name="Number 1"/>
          <p:cNvSpPr txBox="1"/>
          <p:nvPr/>
        </p:nvSpPr>
        <p:spPr>
          <a:xfrm>
            <a:off x="5852160" y="1508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Data Quality Agent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719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Fix, fill or flag every file, with a reason</a:t>
            </a:r>
            <a:endParaRPr lang="en-US" sz="1200" dirty="0"/>
          </a:p>
        </p:txBody>
      </p:sp>
      <p:sp>
        <p:nvSpPr>
          <p:cNvPr id="10" name="Side card 2"/>
          <p:cNvSpPr/>
          <p:nvPr/>
        </p:nvSpPr>
        <p:spPr>
          <a:xfrm>
            <a:off x="5669280" y="2331720"/>
            <a:ext cx="30175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1" name="Number 2"/>
          <p:cNvSpPr txBox="1"/>
          <p:nvPr/>
        </p:nvSpPr>
        <p:spPr>
          <a:xfrm>
            <a:off x="5852160" y="2651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Forecast model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862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Gradient boosting + conformal 80% ranges</a:t>
            </a:r>
            <a:endParaRPr lang="en-US" sz="1200" dirty="0"/>
          </a:p>
        </p:txBody>
      </p:sp>
      <p:sp>
        <p:nvSpPr>
          <p:cNvPr id="14" name="Side card 3"/>
          <p:cNvSpPr/>
          <p:nvPr/>
        </p:nvSpPr>
        <p:spPr>
          <a:xfrm>
            <a:off x="5669280" y="3474720"/>
            <a:ext cx="30175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5" name="Number 3"/>
          <p:cNvSpPr txBox="1"/>
          <p:nvPr/>
        </p:nvSpPr>
        <p:spPr>
          <a:xfrm>
            <a:off x="5852160" y="3794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Supervisor + Prefect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4005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Runs hourly; a failed quality gate keeps the last good data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Results: Model vs Baseline</a:t>
            </a:r>
            <a:endParaRPr lang="en-US" sz="3200" dirty="0"/>
          </a:p>
        </p:txBody>
      </p:sp>
      <p:sp>
        <p:nvSpPr>
          <p:cNvPr id="4" name="Stat card 1"/>
          <p:cNvSpPr/>
          <p:nvPr/>
        </p:nvSpPr>
        <p:spPr>
          <a:xfrm>
            <a:off x="6217920" y="1188720"/>
            <a:ext cx="246888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217920" y="12984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13.5%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Overall · baseline 18.0%</a:t>
            </a:r>
            <a:endParaRPr lang="en-US" sz="1200" dirty="0"/>
          </a:p>
        </p:txBody>
      </p:sp>
      <p:sp>
        <p:nvSpPr>
          <p:cNvPr id="7" name="Stat card 2"/>
          <p:cNvSpPr/>
          <p:nvPr/>
        </p:nvSpPr>
        <p:spPr>
          <a:xfrm>
            <a:off x="6217920" y="2331720"/>
            <a:ext cx="246888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217920" y="24414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10.1%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2971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K-Electric · baseline 17.3%</a:t>
            </a:r>
            <a:endParaRPr lang="en-US" sz="1200" dirty="0"/>
          </a:p>
        </p:txBody>
      </p:sp>
      <p:sp>
        <p:nvSpPr>
          <p:cNvPr id="10" name="Stat card 3"/>
          <p:cNvSpPr/>
          <p:nvPr/>
        </p:nvSpPr>
        <p:spPr>
          <a:xfrm>
            <a:off x="6217920" y="3474720"/>
            <a:ext cx="246888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17920" y="35844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12.5%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Evening peak · baseline 16.9%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graphicFrame>
        <p:nvGraphicFramePr>
          <p:cNvPr id="26" name="Results chart"/>
          <p:cNvGraphicFramePr>
            <a:graphicFrameLocks noGrp="1"/>
          </p:cNvGraphicFramePr>
          <p:nvPr/>
        </p:nvGraphicFramePr>
        <p:xfrm>
          <a:off x="457200" y="1143000"/>
          <a:ext cx="548640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Results note"/>
          <p:cNvSpPr txBox="1"/>
          <p:nvPr/>
        </p:nvSpPr>
        <p:spPr>
          <a:xfrm>
            <a:off x="457200" y="4279392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chemeClr val="accent6"/>
                </a:solidFill>
              </a:rPr>
              <a:t>Error (MAPE %) on 7 unseen months, Jan-Sep 2026 (ISMO did not publish Jun-Jul). Lower is better. IESCO and FESCO show no real gain.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Dashboard / App Views</a:t>
            </a:r>
            <a:endParaRPr lang="en-US" sz="3200" dirty="0"/>
          </a:p>
        </p:txBody>
      </p:sp>
      <p:sp>
        <p:nvSpPr>
          <p:cNvPr id="3" name="Screenshot 1"/>
          <p:cNvSpPr/>
          <p:nvPr/>
        </p:nvSpPr>
        <p:spPr>
          <a:xfrm>
            <a:off x="457200" y="1188720"/>
            <a:ext cx="493776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6" name="Screenshot 2"/>
          <p:cNvSpPr/>
          <p:nvPr/>
        </p:nvSpPr>
        <p:spPr>
          <a:xfrm>
            <a:off x="5577840" y="1188720"/>
            <a:ext cx="31089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9" name="Screenshot 3"/>
          <p:cNvSpPr/>
          <p:nvPr/>
        </p:nvSpPr>
        <p:spPr>
          <a:xfrm>
            <a:off x="5577840" y="2743200"/>
            <a:ext cx="31089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 b="1">
                <a:solidFill>
                  <a:schemeClr val="tx2"/>
                </a:solidFill>
              </a:rPr>
              <a:t>Live demo: </a:t>
            </a:r>
            <a:r>
              <a:rPr lang="en-US" sz="1200" dirty="0">
                <a:solidFill>
                  <a:schemeClr val="accent6"/>
                </a:solidFill>
              </a:rPr>
              <a:t>nabeelali0960-bijlicast.static.hf.space</a:t>
            </a:r>
            <a:r>
              <a:rPr lang="en-US" sz="1200" dirty="0" b="1">
                <a:solidFill>
                  <a:schemeClr val="tx2"/>
                </a:solidFill>
              </a:rPr>
              <a:t>     |     Code: </a:t>
            </a:r>
            <a:r>
              <a:rPr lang="en-US" sz="1200" dirty="0">
                <a:solidFill>
                  <a:schemeClr val="accent6"/>
                </a:solidFill>
              </a:rPr>
              <a:t>github.com/nabeelali0707/hack-insight-hacakthon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26" name="Screenshot image 1" descr="work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243584"/>
            <a:ext cx="4828032" cy="2816352"/>
          </a:xfrm>
          <a:prstGeom prst="rect">
            <a:avLst/>
          </a:prstGeom>
        </p:spPr>
      </p:pic>
      <p:sp>
        <p:nvSpPr>
          <p:cNvPr id="27" name="Caption Workspace: hourly fo"/>
          <p:cNvSpPr/>
          <p:nvPr/>
        </p:nvSpPr>
        <p:spPr>
          <a:xfrm>
            <a:off x="566928" y="3730752"/>
            <a:ext cx="2834640" cy="274320"/>
          </a:xfrm>
          <a:prstGeom prst="roundRect">
            <a:avLst>
              <a:gd name="adj" fmla="val 3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l"/>
            <a:r>
              <a:rPr sz="1000" b="1">
                <a:solidFill>
                  <a:schemeClr val="bg1"/>
                </a:solidFill>
              </a:rPr>
              <a:t>Workspace: hourly forecast and outlook</a:t>
            </a:r>
          </a:p>
        </p:txBody>
      </p:sp>
      <p:pic>
        <p:nvPicPr>
          <p:cNvPr id="28" name="Screenshot image 2" descr="qua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4" y="1243584"/>
            <a:ext cx="2999232" cy="1261872"/>
          </a:xfrm>
          <a:prstGeom prst="rect">
            <a:avLst/>
          </a:prstGeom>
        </p:spPr>
      </p:pic>
      <p:sp>
        <p:nvSpPr>
          <p:cNvPr id="29" name="Caption Data quality: decisi"/>
          <p:cNvSpPr/>
          <p:nvPr/>
        </p:nvSpPr>
        <p:spPr>
          <a:xfrm>
            <a:off x="5687568" y="2249423"/>
            <a:ext cx="1691640" cy="201168"/>
          </a:xfrm>
          <a:prstGeom prst="roundRect">
            <a:avLst>
              <a:gd name="adj" fmla="val 3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l"/>
            <a:r>
              <a:rPr sz="850" b="1">
                <a:solidFill>
                  <a:schemeClr val="bg1"/>
                </a:solidFill>
              </a:rPr>
              <a:t>Data quality: decision log</a:t>
            </a:r>
          </a:p>
        </p:txBody>
      </p:sp>
      <p:pic>
        <p:nvPicPr>
          <p:cNvPr id="30" name="Screenshot image 3" descr="scenari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2704" y="2798064"/>
            <a:ext cx="2999232" cy="1261872"/>
          </a:xfrm>
          <a:prstGeom prst="rect">
            <a:avLst/>
          </a:prstGeom>
        </p:spPr>
      </p:pic>
      <p:sp>
        <p:nvSpPr>
          <p:cNvPr id="31" name="Caption Scenarios: +5 °C hot"/>
          <p:cNvSpPr/>
          <p:nvPr/>
        </p:nvSpPr>
        <p:spPr>
          <a:xfrm>
            <a:off x="5687568" y="3803904"/>
            <a:ext cx="1463040" cy="201168"/>
          </a:xfrm>
          <a:prstGeom prst="roundRect">
            <a:avLst>
              <a:gd name="adj" fmla="val 3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l"/>
            <a:r>
              <a:rPr sz="850" b="1">
                <a:solidFill>
                  <a:schemeClr val="bg1"/>
                </a:solidFill>
              </a:rPr>
              <a:t>Scenarios: +5 °C hotter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Business Model</a:t>
            </a:r>
            <a:endParaRPr lang="en-US" sz="3200" dirty="0"/>
          </a:p>
        </p:txBody>
      </p:sp>
      <p:sp>
        <p:nvSpPr>
          <p:cNvPr id="3" name="Finding card 1"/>
          <p:cNvSpPr/>
          <p:nvPr/>
        </p:nvSpPr>
        <p:spPr>
          <a:xfrm>
            <a:off x="457200" y="1188720"/>
            <a:ext cx="51206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4" name="Finding number 1"/>
          <p:cNvSpPr txBox="1"/>
          <p:nvPr/>
        </p:nvSpPr>
        <p:spPr>
          <a:xfrm>
            <a:off x="640080" y="1508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Who uses it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37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K-Electric's procurement desk; planners at the 9 DISCOs; ISMO and NEPRA analysts</a:t>
            </a:r>
            <a:endParaRPr lang="en-US" sz="1200" dirty="0"/>
          </a:p>
        </p:txBody>
      </p:sp>
      <p:sp>
        <p:nvSpPr>
          <p:cNvPr id="7" name="Finding card 2"/>
          <p:cNvSpPr/>
          <p:nvPr/>
        </p:nvSpPr>
        <p:spPr>
          <a:xfrm>
            <a:off x="457200" y="2331720"/>
            <a:ext cx="51206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8" name="Finding number 2"/>
          <p:cNvSpPr txBox="1"/>
          <p:nvPr/>
        </p:nvSpPr>
        <p:spPr>
          <a:xfrm>
            <a:off x="640080" y="2651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560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Who pays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880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K-Electric licence (API, alerts, retraining); DISCOs via CTBCM programmes; free public tier</a:t>
            </a:r>
            <a:endParaRPr lang="en-US" sz="1200" dirty="0"/>
          </a:p>
        </p:txBody>
      </p:sp>
      <p:sp>
        <p:nvSpPr>
          <p:cNvPr id="11" name="Finding card 3"/>
          <p:cNvSpPr/>
          <p:nvPr/>
        </p:nvSpPr>
        <p:spPr>
          <a:xfrm>
            <a:off x="457200" y="3474720"/>
            <a:ext cx="51206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2" name="Finding number 3"/>
          <p:cNvSpPr txBox="1"/>
          <p:nvPr/>
        </p:nvSpPr>
        <p:spPr>
          <a:xfrm>
            <a:off x="640080" y="3794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703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What it costs to run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023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About US$20 a month of compute, free Hugging Face hosting, a quarter-time analyst</a:t>
            </a:r>
            <a:endParaRPr lang="en-US" sz="1200" dirty="0"/>
          </a:p>
        </p:txBody>
      </p:sp>
      <p:sp>
        <p:nvSpPr>
          <p:cNvPr id="15" name="Impact card"/>
          <p:cNvSpPr/>
          <p:nvPr/>
        </p:nvSpPr>
        <p:spPr>
          <a:xfrm>
            <a:off x="5852160" y="1188720"/>
            <a:ext cx="283464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8076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VALUE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080760" y="17373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 b="1">
                <a:solidFill>
                  <a:schemeClr val="bg1"/>
                </a:solidFill>
              </a:rPr>
              <a:t>Rs 83.9M a day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chemeClr val="bg1"/>
                </a:solidFill>
              </a:rPr>
              <a:t>less mismatch exposure than the baseline (K-Electric, test months, at ISMO prices)</a:t>
            </a:r>
            <a:endParaRPr lang="en-US" sz="1100" dirty="0"/>
          </a:p>
        </p:txBody>
      </p:sp>
      <p:sp>
        <p:nvSpPr>
          <p:cNvPr id="18" name="Future work card"/>
          <p:cNvSpPr/>
          <p:nvPr/>
        </p:nvSpPr>
        <p:spPr>
          <a:xfrm>
            <a:off x="5852160" y="2880360"/>
            <a:ext cx="28346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08076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IF ONLY 1% IS CAPTURED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080760" y="34290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 b="1">
                <a:solidFill>
                  <a:schemeClr val="tx1"/>
                </a:solidFill>
              </a:rPr>
              <a:t>≈ Rs 306M a year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chemeClr val="tx1"/>
                </a:solidFill>
              </a:rPr>
              <a:t>far above the running cost; exposure is money at risk, not a guaranteed saving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Finding card 1"/>
          <p:cNvSpPr/>
          <p:nvPr/>
        </p:nvSpPr>
        <p:spPr>
          <a:xfrm>
            <a:off x="457200" y="1188720"/>
            <a:ext cx="51206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4" name="Finding number 1"/>
          <p:cNvSpPr txBox="1"/>
          <p:nvPr/>
        </p:nvSpPr>
        <p:spPr>
          <a:xfrm>
            <a:off x="640080" y="1508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25% lower error than the declared baseline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37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13.5% vs 18.0% MAPE on 7 unseen months, all 10 companies × 24 hours</a:t>
            </a:r>
            <a:endParaRPr lang="en-US" sz="1200" dirty="0"/>
          </a:p>
        </p:txBody>
      </p:sp>
      <p:sp>
        <p:nvSpPr>
          <p:cNvPr id="7" name="Finding card 2"/>
          <p:cNvSpPr/>
          <p:nvPr/>
        </p:nvSpPr>
        <p:spPr>
          <a:xfrm>
            <a:off x="457200" y="2331720"/>
            <a:ext cx="51206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8" name="Finding number 2"/>
          <p:cNvSpPr txBox="1"/>
          <p:nvPr/>
        </p:nvSpPr>
        <p:spPr>
          <a:xfrm>
            <a:off x="640080" y="2651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560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K-Electric's error cut by 42%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880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10.1% vs 17.3% MAPE; average miss 204 MW vs 338 MW</a:t>
            </a:r>
            <a:endParaRPr lang="en-US" sz="1200" dirty="0"/>
          </a:p>
        </p:txBody>
      </p:sp>
      <p:sp>
        <p:nvSpPr>
          <p:cNvPr id="11" name="Finding card 3"/>
          <p:cNvSpPr/>
          <p:nvPr/>
        </p:nvSpPr>
        <p:spPr>
          <a:xfrm>
            <a:off x="457200" y="3474720"/>
            <a:ext cx="51206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2" name="Finding number 3"/>
          <p:cNvSpPr txBox="1"/>
          <p:nvPr/>
        </p:nvSpPr>
        <p:spPr>
          <a:xfrm>
            <a:off x="640080" y="3794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703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Official data needed checking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023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The agent caught copied months, stale values and unit changes in ISMO files: 52 flags, each with a reason</a:t>
            </a:r>
            <a:endParaRPr lang="en-US" sz="1200" dirty="0"/>
          </a:p>
        </p:txBody>
      </p:sp>
      <p:sp>
        <p:nvSpPr>
          <p:cNvPr id="15" name="Impact card"/>
          <p:cNvSpPr/>
          <p:nvPr/>
        </p:nvSpPr>
        <p:spPr>
          <a:xfrm>
            <a:off x="5852160" y="1188720"/>
            <a:ext cx="283464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8076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IMPACT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080760" y="17373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Planners see every hour's grid draw with an 80% range, its cost and cited advice, in English or Urdu.</a:t>
            </a:r>
            <a:endParaRPr lang="en-US" sz="1400" dirty="0"/>
          </a:p>
        </p:txBody>
      </p:sp>
      <p:sp>
        <p:nvSpPr>
          <p:cNvPr id="18" name="Future work card"/>
          <p:cNvSpPr/>
          <p:nvPr/>
        </p:nvSpPr>
        <p:spPr>
          <a:xfrm>
            <a:off x="5852160" y="2880360"/>
            <a:ext cx="28346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08076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FUTURE WORK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080760" y="34290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Daily forecasts once ISMO publishes daily data; K‑Electric feeder data; better summer peaks.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Team &amp; Credits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[TEAM NAME]</a:t>
            </a:r>
            <a:endParaRPr lang="en-US" sz="2800" dirty="0"/>
          </a:p>
        </p:txBody>
      </p:sp>
      <p:sp>
        <p:nvSpPr>
          <p:cNvPr id="4" name="Member card 1"/>
          <p:cNvSpPr/>
          <p:nvPr/>
        </p:nvSpPr>
        <p:spPr>
          <a:xfrm>
            <a:off x="457200" y="1828800"/>
            <a:ext cx="1920240" cy="1783080"/>
          </a:xfrm>
          <a:prstGeom prst="roundRect">
            <a:avLst>
              <a:gd name="adj" fmla="val 5128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5" name="Avatar 1"/>
          <p:cNvSpPr txBox="1"/>
          <p:nvPr/>
        </p:nvSpPr>
        <p:spPr>
          <a:xfrm>
            <a:off x="1097280" y="2011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AB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[Member Name]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[Role | Roll No.]</a:t>
            </a:r>
            <a:endParaRPr lang="en-US" sz="1200" dirty="0"/>
          </a:p>
        </p:txBody>
      </p:sp>
      <p:sp>
        <p:nvSpPr>
          <p:cNvPr id="8" name="Member card 2"/>
          <p:cNvSpPr/>
          <p:nvPr/>
        </p:nvSpPr>
        <p:spPr>
          <a:xfrm>
            <a:off x="2560320" y="1828800"/>
            <a:ext cx="1920240" cy="1783080"/>
          </a:xfrm>
          <a:prstGeom prst="roundRect">
            <a:avLst>
              <a:gd name="adj" fmla="val 5128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9" name="Avatar 2"/>
          <p:cNvSpPr txBox="1"/>
          <p:nvPr/>
        </p:nvSpPr>
        <p:spPr>
          <a:xfrm>
            <a:off x="3200400" y="2011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AB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788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[Member Name]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[Role | Roll No.]</a:t>
            </a:r>
            <a:endParaRPr lang="en-US" sz="1200" dirty="0"/>
          </a:p>
        </p:txBody>
      </p:sp>
      <p:sp>
        <p:nvSpPr>
          <p:cNvPr id="12" name="Member card 3"/>
          <p:cNvSpPr/>
          <p:nvPr/>
        </p:nvSpPr>
        <p:spPr>
          <a:xfrm>
            <a:off x="4663440" y="1828800"/>
            <a:ext cx="1920240" cy="1783080"/>
          </a:xfrm>
          <a:prstGeom prst="roundRect">
            <a:avLst>
              <a:gd name="adj" fmla="val 5128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3" name="Avatar 3"/>
          <p:cNvSpPr txBox="1"/>
          <p:nvPr/>
        </p:nvSpPr>
        <p:spPr>
          <a:xfrm>
            <a:off x="5303520" y="2011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AB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788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[Member Name]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[Role | Roll No.]</a:t>
            </a:r>
            <a:endParaRPr lang="en-US" sz="1200" dirty="0"/>
          </a:p>
        </p:txBody>
      </p:sp>
      <p:sp>
        <p:nvSpPr>
          <p:cNvPr id="16" name="Member card 4"/>
          <p:cNvSpPr/>
          <p:nvPr/>
        </p:nvSpPr>
        <p:spPr>
          <a:xfrm>
            <a:off x="6766560" y="1828800"/>
            <a:ext cx="1920240" cy="1783080"/>
          </a:xfrm>
          <a:prstGeom prst="roundRect">
            <a:avLst>
              <a:gd name="adj" fmla="val 5128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7" name="Avatar 4"/>
          <p:cNvSpPr txBox="1"/>
          <p:nvPr/>
        </p:nvSpPr>
        <p:spPr>
          <a:xfrm>
            <a:off x="7406640" y="2011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AB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788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[Member Name]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[Role | Roll No.]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Mentor / Supervisor: [Name]    |    Contact: github.com/nabeelali0707/hack-insight-hacakthon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Thank you!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ckInsight">
  <a:themeElements>
    <a:clrScheme name="HackInsight">
      <a:dk1>
        <a:srgbClr val="151515"/>
      </a:dk1>
      <a:lt1>
        <a:srgbClr val="FFFFFF"/>
      </a:lt1>
      <a:dk2>
        <a:srgbClr val="0B5D2A"/>
      </a:dk2>
      <a:lt2>
        <a:srgbClr val="EAF6EE"/>
      </a:lt2>
      <a:accent1>
        <a:srgbClr val="1FA84F"/>
      </a:accent1>
      <a:accent2>
        <a:srgbClr val="0B5D2A"/>
      </a:accent2>
      <a:accent3>
        <a:srgbClr val="151515"/>
      </a:accent3>
      <a:accent4>
        <a:srgbClr val="8FD9A8"/>
      </a:accent4>
      <a:accent5>
        <a:srgbClr val="F2B632"/>
      </a:accent5>
      <a:accent6>
        <a:srgbClr val="5F6B66"/>
      </a:accent6>
      <a:hlink>
        <a:srgbClr val="1FA84F"/>
      </a:hlink>
      <a:folHlink>
        <a:srgbClr val="0B5D2A"/>
      </a:folHlink>
    </a:clrScheme>
    <a:fontScheme name="HackInsigh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 Insight 2026 - Team Template</dc:title>
  <dc:subject>PptxGenJS Presentation</dc:subject>
  <dc:creator>PptxGenJS</dc:creator>
  <cp:lastModifiedBy>PptxGenJS</cp:lastModifiedBy>
  <cp:revision>1</cp:revision>
  <dcterms:created xsi:type="dcterms:W3CDTF">2026-10-21T15:16:12Z</dcterms:created>
  <dcterms:modified xsi:type="dcterms:W3CDTF">2026-10-21T15:16:12Z</dcterms:modified>
</cp:coreProperties>
</file>